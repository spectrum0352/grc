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68" r:id="rId3"/>
    <p:sldId id="269" r:id="rId4"/>
    <p:sldId id="266" r:id="rId5"/>
    <p:sldId id="270" r:id="rId6"/>
    <p:sldId id="267"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67487" autoAdjust="0"/>
  </p:normalViewPr>
  <p:slideViewPr>
    <p:cSldViewPr snapToGrid="0">
      <p:cViewPr varScale="1">
        <p:scale>
          <a:sx n="44" d="100"/>
          <a:sy n="44" d="100"/>
        </p:scale>
        <p:origin x="1524" y="48"/>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3/1/2026</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2</a:t>
            </a:fld>
            <a:endParaRPr lang="en-US" dirty="0"/>
          </a:p>
        </p:txBody>
      </p:sp>
    </p:spTree>
    <p:extLst>
      <p:ext uri="{BB962C8B-B14F-4D97-AF65-F5344CB8AC3E}">
        <p14:creationId xmlns:p14="http://schemas.microsoft.com/office/powerpoint/2010/main" val="4192102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3</a:t>
            </a:fld>
            <a:endParaRPr lang="en-US" dirty="0"/>
          </a:p>
        </p:txBody>
      </p:sp>
    </p:spTree>
    <p:extLst>
      <p:ext uri="{BB962C8B-B14F-4D97-AF65-F5344CB8AC3E}">
        <p14:creationId xmlns:p14="http://schemas.microsoft.com/office/powerpoint/2010/main" val="3871000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4</a:t>
            </a:fld>
            <a:endParaRPr lang="en-US" dirty="0"/>
          </a:p>
        </p:txBody>
      </p:sp>
    </p:spTree>
    <p:extLst>
      <p:ext uri="{BB962C8B-B14F-4D97-AF65-F5344CB8AC3E}">
        <p14:creationId xmlns:p14="http://schemas.microsoft.com/office/powerpoint/2010/main" val="2295961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5</a:t>
            </a:fld>
            <a:endParaRPr lang="en-US" dirty="0"/>
          </a:p>
        </p:txBody>
      </p:sp>
    </p:spTree>
    <p:extLst>
      <p:ext uri="{BB962C8B-B14F-4D97-AF65-F5344CB8AC3E}">
        <p14:creationId xmlns:p14="http://schemas.microsoft.com/office/powerpoint/2010/main" val="898123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latin typeface="Segoe UI" panose="020B0502040204020203" pitchFamily="34" charset="0"/>
                <a:cs typeface="Segoe UI" panose="020B0502040204020203" pitchFamily="34" charset="0"/>
              </a:rPr>
              <a:t>After consulting a variety of sources, you will need to narrow your topic.  For example, the topic of internet safety is huge, but you could narrow that topic to include internet safety in regards to social media apps that teenagers are using heavily.  A topic like that is more specific and will be relevant to your peers.  Some questions to think about to help you narrow your topic: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topics of the research interest me the most?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topics of the research will interest my audience the most?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topics will the audience find more engaging? Shocking? Inspiring?</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6</a:t>
            </a:fld>
            <a:endParaRPr lang="en-US" dirty="0"/>
          </a:p>
        </p:txBody>
      </p:sp>
    </p:spTree>
    <p:extLst>
      <p:ext uri="{BB962C8B-B14F-4D97-AF65-F5344CB8AC3E}">
        <p14:creationId xmlns:p14="http://schemas.microsoft.com/office/powerpoint/2010/main" val="4224310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7</a:t>
            </a:fld>
            <a:endParaRPr lang="en-US" dirty="0"/>
          </a:p>
        </p:txBody>
      </p:sp>
    </p:spTree>
    <p:extLst>
      <p:ext uri="{BB962C8B-B14F-4D97-AF65-F5344CB8AC3E}">
        <p14:creationId xmlns:p14="http://schemas.microsoft.com/office/powerpoint/2010/main" val="1825341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After you’ve done your research, it’s time to put your presentation together.  The first step in the process is to introduce the topic.  This is a great time to connect your topic to something that your audience can relate.  In other words, why should they listen to all the information you will be sharing in your research presentation?  What is in it for them?  You may also want to include a graphic or image to grab their attention.</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Feel free to duplicate this slide by right-clicking on this slide in the slides pane to the left and select </a:t>
            </a:r>
            <a:r>
              <a:rPr lang="en-US" b="1" dirty="0">
                <a:latin typeface="Segoe UI" panose="020B0502040204020203" pitchFamily="34" charset="0"/>
                <a:cs typeface="Segoe UI" panose="020B0502040204020203" pitchFamily="34" charset="0"/>
              </a:rPr>
              <a:t>Duplicate Slide</a:t>
            </a:r>
            <a:r>
              <a:rPr lang="en-US" dirty="0">
                <a:latin typeface="Segoe UI" panose="020B0502040204020203" pitchFamily="34" charset="0"/>
                <a:cs typeface="Segoe UI" panose="020B0502040204020203" pitchFamily="34" charset="0"/>
              </a:rPr>
              <a:t>.</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The next step in your presentation is to state your claim or topic clearly.  Your teacher may even call this your thesis.  As you state your thesis, you may find that this layout is not the best layout for your claim or topic.  You can change the layout by clicking the drop-down menu next to the </a:t>
            </a:r>
            <a:r>
              <a:rPr lang="en-US" b="1" dirty="0">
                <a:latin typeface="Segoe UI" panose="020B0502040204020203" pitchFamily="34" charset="0"/>
                <a:cs typeface="Segoe UI" panose="020B0502040204020203" pitchFamily="34" charset="0"/>
              </a:rPr>
              <a:t>Layout</a:t>
            </a:r>
            <a:r>
              <a:rPr lang="en-US" dirty="0">
                <a:latin typeface="Segoe UI" panose="020B0502040204020203" pitchFamily="34" charset="0"/>
                <a:cs typeface="Segoe UI" panose="020B0502040204020203" pitchFamily="34" charset="0"/>
              </a:rPr>
              <a:t> in the </a:t>
            </a:r>
            <a:r>
              <a:rPr lang="en-US" b="1" dirty="0">
                <a:latin typeface="Segoe UI" panose="020B0502040204020203" pitchFamily="34" charset="0"/>
                <a:cs typeface="Segoe UI" panose="020B0502040204020203" pitchFamily="34" charset="0"/>
              </a:rPr>
              <a:t>Slides</a:t>
            </a:r>
            <a:r>
              <a:rPr lang="en-US" dirty="0">
                <a:latin typeface="Segoe UI" panose="020B0502040204020203" pitchFamily="34" charset="0"/>
                <a:cs typeface="Segoe UI" panose="020B0502040204020203" pitchFamily="34" charset="0"/>
              </a:rPr>
              <a:t> menu section.  You can choose </a:t>
            </a:r>
            <a:r>
              <a:rPr lang="en-US" b="1" dirty="0">
                <a:latin typeface="Segoe UI" panose="020B0502040204020203" pitchFamily="34" charset="0"/>
                <a:cs typeface="Segoe UI" panose="020B0502040204020203" pitchFamily="34" charset="0"/>
              </a:rPr>
              <a:t>Two Content</a:t>
            </a:r>
            <a:r>
              <a:rPr lang="en-US" dirty="0">
                <a:latin typeface="Segoe UI" panose="020B0502040204020203" pitchFamily="34" charset="0"/>
                <a:cs typeface="Segoe UI" panose="020B0502040204020203" pitchFamily="34" charset="0"/>
              </a:rPr>
              <a:t>, </a:t>
            </a:r>
            <a:r>
              <a:rPr lang="en-US" b="1" dirty="0">
                <a:latin typeface="Segoe UI" panose="020B0502040204020203" pitchFamily="34" charset="0"/>
                <a:cs typeface="Segoe UI" panose="020B0502040204020203" pitchFamily="34" charset="0"/>
              </a:rPr>
              <a:t>Comparison</a:t>
            </a:r>
            <a:r>
              <a:rPr lang="en-US" dirty="0">
                <a:latin typeface="Segoe UI" panose="020B0502040204020203" pitchFamily="34" charset="0"/>
                <a:cs typeface="Segoe UI" panose="020B0502040204020203" pitchFamily="34" charset="0"/>
              </a:rPr>
              <a:t>, or </a:t>
            </a:r>
            <a:r>
              <a:rPr lang="en-US" b="1" dirty="0">
                <a:latin typeface="Segoe UI" panose="020B0502040204020203" pitchFamily="34" charset="0"/>
                <a:cs typeface="Segoe UI" panose="020B0502040204020203" pitchFamily="34" charset="0"/>
              </a:rPr>
              <a:t>Picture with Caption</a:t>
            </a:r>
            <a:r>
              <a:rPr lang="en-US" dirty="0">
                <a:latin typeface="Segoe UI" panose="020B0502040204020203" pitchFamily="34" charset="0"/>
                <a:cs typeface="Segoe UI" panose="020B0502040204020203" pitchFamily="34" charset="0"/>
              </a:rPr>
              <a:t>.  </a:t>
            </a:r>
            <a:r>
              <a:rPr lang="en-US" i="1" dirty="0">
                <a:latin typeface="Segoe UI" panose="020B0502040204020203" pitchFamily="34" charset="0"/>
                <a:cs typeface="Segoe UI" panose="020B0502040204020203" pitchFamily="34" charset="0"/>
              </a:rPr>
              <a:t>Note: A different layout might change the look of the icons on this page.</a:t>
            </a:r>
          </a:p>
          <a:p>
            <a:endParaRPr lang="en-US" i="1" dirty="0">
              <a:latin typeface="Segoe UI" panose="020B0502040204020203" pitchFamily="34" charset="0"/>
              <a:cs typeface="Segoe UI" panose="020B0502040204020203" pitchFamily="34" charset="0"/>
            </a:endParaRPr>
          </a:p>
          <a:p>
            <a:r>
              <a:rPr lang="en-US" i="0" dirty="0">
                <a:latin typeface="Segoe UI" panose="020B0502040204020203" pitchFamily="34" charset="0"/>
                <a:cs typeface="Segoe UI" panose="020B0502040204020203" pitchFamily="34" charset="0"/>
              </a:rPr>
              <a:t>You will also want to state your facts.  You have done the research now share some of the interesting facts with your audience.  Facts do not have to be boring; you can communicate facts in a variety of ways by going to the Insert Tab.  In the Insert tab you can: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Insert </a:t>
            </a:r>
            <a:r>
              <a:rPr lang="en-US" b="1" i="0" dirty="0">
                <a:latin typeface="Segoe UI" panose="020B0502040204020203" pitchFamily="34" charset="0"/>
                <a:cs typeface="Segoe UI" panose="020B0502040204020203" pitchFamily="34" charset="0"/>
              </a:rPr>
              <a:t>pictures</a:t>
            </a:r>
            <a:r>
              <a:rPr lang="en-US" i="0" dirty="0">
                <a:latin typeface="Segoe UI" panose="020B0502040204020203" pitchFamily="34" charset="0"/>
                <a:cs typeface="Segoe UI" panose="020B0502040204020203" pitchFamily="34" charset="0"/>
              </a:rPr>
              <a:t> from your computer or </a:t>
            </a:r>
            <a:r>
              <a:rPr lang="en-US" b="1" i="0" dirty="0">
                <a:latin typeface="Segoe UI" panose="020B0502040204020203" pitchFamily="34" charset="0"/>
                <a:cs typeface="Segoe UI" panose="020B0502040204020203" pitchFamily="34" charset="0"/>
              </a:rPr>
              <a:t>online</a:t>
            </a:r>
            <a:r>
              <a:rPr lang="en-US" i="0" dirty="0">
                <a:latin typeface="Segoe UI" panose="020B0502040204020203" pitchFamily="34" charset="0"/>
                <a:cs typeface="Segoe UI" panose="020B0502040204020203" pitchFamily="34" charset="0"/>
              </a:rPr>
              <a:t>.</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Add a </a:t>
            </a:r>
            <a:r>
              <a:rPr lang="en-US" b="1" i="0" dirty="0">
                <a:latin typeface="Segoe UI" panose="020B0502040204020203" pitchFamily="34" charset="0"/>
                <a:cs typeface="Segoe UI" panose="020B0502040204020203" pitchFamily="34" charset="0"/>
              </a:rPr>
              <a:t>chart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Create some </a:t>
            </a:r>
            <a:r>
              <a:rPr lang="en-US" b="1" i="0" dirty="0">
                <a:latin typeface="Segoe UI" panose="020B0502040204020203" pitchFamily="34" charset="0"/>
                <a:cs typeface="Segoe UI" panose="020B0502040204020203" pitchFamily="34" charset="0"/>
              </a:rPr>
              <a:t>SmartArt</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Insert a variety of icons to help your facts come to life.  Note: You can change the color of the icons by selecting the icon and then click on the </a:t>
            </a:r>
            <a:r>
              <a:rPr lang="en-US" b="1" i="0" dirty="0">
                <a:latin typeface="Segoe UI" panose="020B0502040204020203" pitchFamily="34" charset="0"/>
                <a:cs typeface="Segoe UI" panose="020B0502040204020203" pitchFamily="34" charset="0"/>
              </a:rPr>
              <a:t>Format</a:t>
            </a:r>
            <a:r>
              <a:rPr lang="en-US" i="0" dirty="0">
                <a:latin typeface="Segoe UI" panose="020B0502040204020203" pitchFamily="34" charset="0"/>
                <a:cs typeface="Segoe UI" panose="020B0502040204020203" pitchFamily="34" charset="0"/>
              </a:rPr>
              <a:t> tab and then </a:t>
            </a:r>
            <a:r>
              <a:rPr lang="en-US" b="1" i="0" dirty="0">
                <a:latin typeface="Segoe UI" panose="020B0502040204020203" pitchFamily="34" charset="0"/>
                <a:cs typeface="Segoe UI" panose="020B0502040204020203" pitchFamily="34" charset="0"/>
              </a:rPr>
              <a:t>Graphics Fill</a:t>
            </a:r>
            <a:r>
              <a:rPr lang="en-US" i="0" dirty="0">
                <a:latin typeface="Segoe UI" panose="020B0502040204020203" pitchFamily="34" charset="0"/>
                <a:cs typeface="Segoe UI" panose="020B0502040204020203" pitchFamily="34" charset="0"/>
              </a:rPr>
              <a:t>.  From there, you will choose a color from the list or choose </a:t>
            </a:r>
            <a:r>
              <a:rPr lang="en-US" b="1" i="0" dirty="0">
                <a:latin typeface="Segoe UI" panose="020B0502040204020203" pitchFamily="34" charset="0"/>
                <a:cs typeface="Segoe UI" panose="020B0502040204020203" pitchFamily="34" charset="0"/>
              </a:rPr>
              <a:t>More Fill Colors </a:t>
            </a:r>
            <a:r>
              <a:rPr lang="en-US" i="0" dirty="0">
                <a:latin typeface="Segoe UI" panose="020B0502040204020203" pitchFamily="34" charset="0"/>
                <a:cs typeface="Segoe UI" panose="020B0502040204020203" pitchFamily="34" charset="0"/>
              </a:rPr>
              <a:t>to give you more options.</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Since this research presentation is a result of your hard work and searching, you want to make sure you support the claims or points in your presentation with facts from your research findings.  Make sure you give the author proper credit for helping you share your ideas.  If one of your sources has a video that is relevant to your topic, you can add the video as added support.  Keep in mind the length of the video and the amount of time you have for your presentation.  For a 5 minute speech, the video should be no longer than 30 seconds.  </a:t>
            </a:r>
          </a:p>
          <a:p>
            <a:endParaRPr lang="en-US" dirty="0">
              <a:latin typeface="Segoe UI" panose="020B0502040204020203" pitchFamily="34" charset="0"/>
              <a:cs typeface="Segoe UI" panose="020B0502040204020203" pitchFamily="34" charset="0"/>
            </a:endParaRPr>
          </a:p>
          <a:p>
            <a:r>
              <a:rPr lang="en-US" b="1" i="1" dirty="0">
                <a:latin typeface="Segoe UI" panose="020B0502040204020203" pitchFamily="34" charset="0"/>
                <a:cs typeface="Segoe UI" panose="020B0502040204020203" pitchFamily="34" charset="0"/>
              </a:rPr>
              <a:t>Questions to consider: </a:t>
            </a:r>
          </a:p>
          <a:p>
            <a:pPr marL="228600" indent="-228600">
              <a:buAutoNum type="arabicPeriod"/>
            </a:pPr>
            <a:r>
              <a:rPr lang="en-US" dirty="0">
                <a:latin typeface="Segoe UI" panose="020B0502040204020203" pitchFamily="34" charset="0"/>
                <a:cs typeface="Segoe UI" panose="020B0502040204020203" pitchFamily="34" charset="0"/>
              </a:rPr>
              <a:t>How will you state the author of the source?</a:t>
            </a:r>
          </a:p>
          <a:p>
            <a:pPr marL="228600" indent="-228600">
              <a:buAutoNum type="arabicPeriod"/>
            </a:pPr>
            <a:r>
              <a:rPr lang="en-US" dirty="0">
                <a:latin typeface="Segoe UI" panose="020B0502040204020203" pitchFamily="34" charset="0"/>
                <a:cs typeface="Segoe UI" panose="020B0502040204020203" pitchFamily="34" charset="0"/>
              </a:rPr>
              <a:t>Will you need to cite the source on the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Segoe UI" panose="020B0502040204020203" pitchFamily="34" charset="0"/>
                <a:cs typeface="Segoe UI" panose="020B0502040204020203" pitchFamily="34" charset="0"/>
              </a:rPr>
              <a:t>What are some ways you can engage your audience so they feel like they are a part of the presentation?  Some ideas to consider is by taking a quick poll like: by a show of hands, how many of you think school uniforms are a way to cut down on bullying?  Another suggestion is to have them hold up a certain number of fingers to see if they agree or disagree.  Finally, you can share a story that the audience can relate to that makes them laugh.</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After all the applause, your audience may have some questions.  Be prepared to answer some of their questions by making a list of questions you think they might ask. You may also want to share the presentation with them by providing the link to your presentation, if they want more information.</a:t>
            </a:r>
          </a:p>
        </p:txBody>
      </p:sp>
      <p:sp>
        <p:nvSpPr>
          <p:cNvPr id="4" name="Slide Number Placeholder 3"/>
          <p:cNvSpPr>
            <a:spLocks noGrp="1"/>
          </p:cNvSpPr>
          <p:nvPr>
            <p:ph type="sldNum" sz="quarter" idx="10"/>
          </p:nvPr>
        </p:nvSpPr>
        <p:spPr/>
        <p:txBody>
          <a:bodyPr/>
          <a:lstStyle/>
          <a:p>
            <a:fld id="{BC849E9A-41F7-4779-A581-48A7C374A227}" type="slidenum">
              <a:rPr lang="en-US" smtClean="0"/>
              <a:t>8</a:t>
            </a:fld>
            <a:endParaRPr lang="en-US" dirty="0"/>
          </a:p>
        </p:txBody>
      </p:sp>
    </p:spTree>
    <p:extLst>
      <p:ext uri="{BB962C8B-B14F-4D97-AF65-F5344CB8AC3E}">
        <p14:creationId xmlns:p14="http://schemas.microsoft.com/office/powerpoint/2010/main" val="1335805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You can use this slide as your opening or closing slide.  Should you choose to use it as a closing, make sure you review the main points of your presentation.  One creative way to do that is by adding animations to the various graphics on a slide.  This slide has 4 different graphics, and, when you view the slideshow, you will see that you can click to reveal the next graphic.  Similarly, as you review the main topics in your presentation, you may want each point to show up when you are addressing that topic.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Add animation to images and graphics: </a:t>
            </a:r>
          </a:p>
          <a:p>
            <a:pPr marL="228600" indent="-228600">
              <a:buAutoNum type="arabicPeriod"/>
            </a:pPr>
            <a:r>
              <a:rPr lang="en-US" dirty="0">
                <a:latin typeface="Segoe UI" panose="020B0502040204020203" pitchFamily="34" charset="0"/>
                <a:cs typeface="Segoe UI" panose="020B0502040204020203" pitchFamily="34" charset="0"/>
              </a:rPr>
              <a:t>Select your image or graphic.</a:t>
            </a:r>
          </a:p>
          <a:p>
            <a:pPr marL="228600" indent="-228600">
              <a:buAutoNum type="arabicPeriod"/>
            </a:pPr>
            <a:r>
              <a:rPr lang="en-US" dirty="0">
                <a:latin typeface="Segoe UI" panose="020B0502040204020203" pitchFamily="34" charset="0"/>
                <a:cs typeface="Segoe UI" panose="020B0502040204020203" pitchFamily="34" charset="0"/>
              </a:rPr>
              <a:t>Click on the Animations tab.</a:t>
            </a:r>
          </a:p>
          <a:p>
            <a:pPr marL="228600" indent="-228600">
              <a:buAutoNum type="arabicPeriod"/>
            </a:pPr>
            <a:r>
              <a:rPr lang="en-US" dirty="0">
                <a:latin typeface="Segoe UI" panose="020B0502040204020203" pitchFamily="34" charset="0"/>
                <a:cs typeface="Segoe UI" panose="020B0502040204020203" pitchFamily="34" charset="0"/>
              </a:rPr>
              <a:t>Choose from the options.  The animation for this slide is “Split”.  The drop-down menu in the Animation section gives even more animations you can use.</a:t>
            </a:r>
          </a:p>
          <a:p>
            <a:pPr marL="228600" indent="-228600">
              <a:buAutoNum type="arabicPeriod"/>
            </a:pPr>
            <a:r>
              <a:rPr lang="en-US" dirty="0">
                <a:latin typeface="Segoe UI" panose="020B0502040204020203" pitchFamily="34" charset="0"/>
                <a:cs typeface="Segoe UI" panose="020B0502040204020203" pitchFamily="34" charset="0"/>
              </a:rPr>
              <a:t>If you have multiple graphics or images, you will see a number appear next to it that notes the order of the animations.</a:t>
            </a:r>
          </a:p>
          <a:p>
            <a:pPr marL="228600" indent="-228600">
              <a:buAutoNum type="arabicPeriod"/>
            </a:pPr>
            <a:endParaRPr lang="en-US" b="1" dirty="0">
              <a:latin typeface="Segoe UI" panose="020B0502040204020203" pitchFamily="34" charset="0"/>
              <a:cs typeface="Segoe UI" panose="020B0502040204020203" pitchFamily="34" charset="0"/>
            </a:endParaRPr>
          </a:p>
          <a:p>
            <a:pPr marL="0" indent="0">
              <a:buNone/>
            </a:pPr>
            <a:r>
              <a:rPr lang="en-US" b="1" dirty="0">
                <a:latin typeface="Segoe UI" panose="020B0502040204020203" pitchFamily="34" charset="0"/>
                <a:cs typeface="Segoe UI" panose="020B0502040204020203" pitchFamily="34" charset="0"/>
              </a:rPr>
              <a:t>Note: You will want to choose the animations carefully.  You do not want to make your audience dizzy from your presentation.</a:t>
            </a:r>
          </a:p>
        </p:txBody>
      </p:sp>
      <p:sp>
        <p:nvSpPr>
          <p:cNvPr id="4" name="Slide Number Placeholder 3"/>
          <p:cNvSpPr>
            <a:spLocks noGrp="1"/>
          </p:cNvSpPr>
          <p:nvPr>
            <p:ph type="sldNum" sz="quarter" idx="10"/>
          </p:nvPr>
        </p:nvSpPr>
        <p:spPr/>
        <p:txBody>
          <a:bodyPr/>
          <a:lstStyle/>
          <a:p>
            <a:fld id="{BC849E9A-41F7-4779-A581-48A7C374A227}" type="slidenum">
              <a:rPr lang="en-US" smtClean="0"/>
              <a:t>9</a:t>
            </a:fld>
            <a:endParaRPr lang="en-US" dirty="0"/>
          </a:p>
        </p:txBody>
      </p:sp>
    </p:spTree>
    <p:extLst>
      <p:ext uri="{BB962C8B-B14F-4D97-AF65-F5344CB8AC3E}">
        <p14:creationId xmlns:p14="http://schemas.microsoft.com/office/powerpoint/2010/main" val="64420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ECF21A4-E71B-4D3A-AF45-E989C23A7BB1}" type="datetimeFigureOut">
              <a:rPr lang="en-US" smtClean="0"/>
              <a:t>3/1/2026</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21A4-E71B-4D3A-AF45-E989C23A7BB1}" type="datetimeFigureOut">
              <a:rPr lang="en-US" smtClean="0"/>
              <a:t>3/1/2026</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4654295" y="4522156"/>
            <a:ext cx="5609222" cy="1363215"/>
          </a:xfrm>
        </p:spPr>
        <p:txBody>
          <a:bodyPr anchor="t">
            <a:normAutofit/>
          </a:bodyPr>
          <a:lstStyle/>
          <a:p>
            <a:pPr algn="l"/>
            <a:r>
              <a:rPr lang="en-US" sz="4400" dirty="0">
                <a:latin typeface="Franklin Gothic Book" panose="020B0503020102020204" pitchFamily="34" charset="0"/>
                <a:cs typeface="Segoe UI" panose="020B0502040204020203" pitchFamily="34" charset="0"/>
              </a:rPr>
              <a:t>Research Presentation</a:t>
            </a:r>
          </a:p>
        </p:txBody>
      </p: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4654296" y="3945418"/>
            <a:ext cx="5609219" cy="576738"/>
          </a:xfrm>
        </p:spPr>
        <p:txBody>
          <a:bodyPr anchor="b">
            <a:normAutofit/>
          </a:bodyPr>
          <a:lstStyle/>
          <a:p>
            <a:pPr algn="l"/>
            <a:endParaRPr lang="en-US" sz="2000" dirty="0">
              <a:latin typeface="Franklin Gothic Book" panose="020B0503020102020204" pitchFamily="34" charset="0"/>
            </a:endParaRPr>
          </a:p>
        </p:txBody>
      </p:sp>
      <p:sp>
        <p:nvSpPr>
          <p:cNvPr id="29" name="Freeform: Shape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5250" y="164573"/>
            <a:ext cx="1636279" cy="1636279"/>
          </a:xfrm>
          <a:prstGeom prst="rect">
            <a:avLst/>
          </a:prstGeom>
        </p:spPr>
      </p:pic>
      <p:sp>
        <p:nvSpPr>
          <p:cNvPr id="37" name="Oval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0302" y="1293093"/>
            <a:ext cx="1827742" cy="1827742"/>
          </a:xfrm>
          <a:prstGeom prst="rect">
            <a:avLst/>
          </a:prstGeom>
        </p:spPr>
      </p:pic>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0924" y="3621724"/>
            <a:ext cx="2594886" cy="2594886"/>
          </a:xfrm>
          <a:prstGeom prst="rect">
            <a:avLst/>
          </a:prstGeom>
        </p:spPr>
      </p:pic>
      <p:sp>
        <p:nvSpPr>
          <p:cNvPr id="41" name="Freeform: Shape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25024" y="327889"/>
            <a:ext cx="2260711" cy="226071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824B-4279-4D47-92DD-71F5353FAA23}"/>
              </a:ext>
            </a:extLst>
          </p:cNvPr>
          <p:cNvSpPr>
            <a:spLocks noGrp="1"/>
          </p:cNvSpPr>
          <p:nvPr>
            <p:ph type="title"/>
          </p:nvPr>
        </p:nvSpPr>
        <p:spPr>
          <a:xfrm>
            <a:off x="283308" y="169573"/>
            <a:ext cx="10515600" cy="1325563"/>
          </a:xfrm>
        </p:spPr>
        <p:txBody>
          <a:bodyPr/>
          <a:lstStyle/>
          <a:p>
            <a:r>
              <a:rPr lang="en-US" dirty="0">
                <a:latin typeface="Franklin Gothic Book" panose="020B0503020102020204" pitchFamily="34" charset="0"/>
                <a:cs typeface="Segoe UI" panose="020B0502040204020203" pitchFamily="34" charset="0"/>
              </a:rPr>
              <a:t>Gather Your Research using Researcher</a:t>
            </a:r>
          </a:p>
        </p:txBody>
      </p:sp>
      <p:sp>
        <p:nvSpPr>
          <p:cNvPr id="8" name="Oval 7">
            <a:extLst>
              <a:ext uri="{FF2B5EF4-FFF2-40B4-BE49-F238E27FC236}">
                <a16:creationId xmlns:a16="http://schemas.microsoft.com/office/drawing/2014/main" id="{E5585411-DE61-42EC-8DAB-BA853F129791}"/>
              </a:ext>
            </a:extLst>
          </p:cNvPr>
          <p:cNvSpPr/>
          <p:nvPr/>
        </p:nvSpPr>
        <p:spPr>
          <a:xfrm>
            <a:off x="363331" y="1495136"/>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1</a:t>
            </a:r>
          </a:p>
        </p:txBody>
      </p:sp>
      <p:pic>
        <p:nvPicPr>
          <p:cNvPr id="4" name="Picture 3" descr="A screenshot of a research paper.&#10;&#10;Description generated with very high confidence">
            <a:extLst>
              <a:ext uri="{FF2B5EF4-FFF2-40B4-BE49-F238E27FC236}">
                <a16:creationId xmlns:a16="http://schemas.microsoft.com/office/drawing/2014/main" id="{CA38661C-A76F-46FD-B34B-75411EEC7E5E}"/>
              </a:ext>
            </a:extLst>
          </p:cNvPr>
          <p:cNvPicPr>
            <a:picLocks noChangeAspect="1"/>
          </p:cNvPicPr>
          <p:nvPr/>
        </p:nvPicPr>
        <p:blipFill>
          <a:blip r:embed="rId3"/>
          <a:stretch>
            <a:fillRect/>
          </a:stretch>
        </p:blipFill>
        <p:spPr>
          <a:xfrm>
            <a:off x="1103839" y="1609970"/>
            <a:ext cx="2553761" cy="2489574"/>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25AD4F61-E023-4530-BF03-8BC2D825D0BF}"/>
              </a:ext>
            </a:extLst>
          </p:cNvPr>
          <p:cNvSpPr txBox="1"/>
          <p:nvPr/>
        </p:nvSpPr>
        <p:spPr>
          <a:xfrm>
            <a:off x="1103839" y="4397884"/>
            <a:ext cx="2553761" cy="1200329"/>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1.  Start gathering your research using the Researcher feature in Word 2016.</a:t>
            </a:r>
          </a:p>
        </p:txBody>
      </p:sp>
      <p:sp>
        <p:nvSpPr>
          <p:cNvPr id="9" name="Oval 8">
            <a:extLst>
              <a:ext uri="{FF2B5EF4-FFF2-40B4-BE49-F238E27FC236}">
                <a16:creationId xmlns:a16="http://schemas.microsoft.com/office/drawing/2014/main" id="{6D1E12A6-FA7A-477F-8C87-308C5B84B139}"/>
              </a:ext>
            </a:extLst>
          </p:cNvPr>
          <p:cNvSpPr/>
          <p:nvPr/>
        </p:nvSpPr>
        <p:spPr>
          <a:xfrm>
            <a:off x="4454685" y="1497701"/>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2</a:t>
            </a:r>
          </a:p>
        </p:txBody>
      </p:sp>
      <p:pic>
        <p:nvPicPr>
          <p:cNvPr id="6" name="Picture 5" descr="A screenshot of a research paper.">
            <a:extLst>
              <a:ext uri="{FF2B5EF4-FFF2-40B4-BE49-F238E27FC236}">
                <a16:creationId xmlns:a16="http://schemas.microsoft.com/office/drawing/2014/main" id="{6DA968F2-5A94-4613-A504-B78257B6B052}"/>
              </a:ext>
            </a:extLst>
          </p:cNvPr>
          <p:cNvPicPr>
            <a:picLocks noChangeAspect="1"/>
          </p:cNvPicPr>
          <p:nvPr/>
        </p:nvPicPr>
        <p:blipFill>
          <a:blip r:embed="rId4"/>
          <a:stretch>
            <a:fillRect/>
          </a:stretch>
        </p:blipFill>
        <p:spPr>
          <a:xfrm>
            <a:off x="5133609" y="1609970"/>
            <a:ext cx="6667622" cy="2478005"/>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E5564556-59F0-4D0A-A6CD-ADF8F4D7428B}"/>
              </a:ext>
            </a:extLst>
          </p:cNvPr>
          <p:cNvSpPr txBox="1"/>
          <p:nvPr/>
        </p:nvSpPr>
        <p:spPr>
          <a:xfrm>
            <a:off x="5297731" y="4319730"/>
            <a:ext cx="6503499" cy="1477328"/>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2.  After entering your topic, this example is “The Alamo” you can click on the + sign to add the topic to your Word document.  A link is provided on your document so you can return to the information source again at a later time. Click on the article to learn more about it.</a:t>
            </a:r>
          </a:p>
        </p:txBody>
      </p:sp>
    </p:spTree>
    <p:extLst>
      <p:ext uri="{BB962C8B-B14F-4D97-AF65-F5344CB8AC3E}">
        <p14:creationId xmlns:p14="http://schemas.microsoft.com/office/powerpoint/2010/main" val="15349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BD0A42-B011-4DBF-B5CD-6718A97E3C70}"/>
              </a:ext>
            </a:extLst>
          </p:cNvPr>
          <p:cNvSpPr>
            <a:spLocks noGrp="1"/>
          </p:cNvSpPr>
          <p:nvPr>
            <p:ph type="title"/>
          </p:nvPr>
        </p:nvSpPr>
        <p:spPr/>
        <p:txBody>
          <a:bodyPr/>
          <a:lstStyle/>
          <a:p>
            <a:r>
              <a:rPr lang="en-US" dirty="0"/>
              <a:t>Slide 3</a:t>
            </a:r>
          </a:p>
        </p:txBody>
      </p:sp>
      <p:pic>
        <p:nvPicPr>
          <p:cNvPr id="2" name="Picture 1" descr="A screenshot of a research paper.">
            <a:extLst>
              <a:ext uri="{FF2B5EF4-FFF2-40B4-BE49-F238E27FC236}">
                <a16:creationId xmlns:a16="http://schemas.microsoft.com/office/drawing/2014/main" id="{778E3BF5-FB54-4388-B5BD-7116A58E33DA}"/>
              </a:ext>
            </a:extLst>
          </p:cNvPr>
          <p:cNvPicPr>
            <a:picLocks noChangeAspect="1"/>
          </p:cNvPicPr>
          <p:nvPr/>
        </p:nvPicPr>
        <p:blipFill>
          <a:blip r:embed="rId3"/>
          <a:stretch>
            <a:fillRect/>
          </a:stretch>
        </p:blipFill>
        <p:spPr>
          <a:xfrm>
            <a:off x="257908" y="270802"/>
            <a:ext cx="11071225" cy="4727345"/>
          </a:xfrm>
          <a:prstGeom prst="rect">
            <a:avLst/>
          </a:prstGeom>
          <a:ln>
            <a:noFill/>
          </a:ln>
          <a:effectLst>
            <a:outerShdw blurRad="292100" dist="139700" dir="2700000" algn="tl" rotWithShape="0">
              <a:srgbClr val="333333">
                <a:alpha val="65000"/>
              </a:srgbClr>
            </a:outerShdw>
          </a:effectLst>
        </p:spPr>
      </p:pic>
      <p:sp>
        <p:nvSpPr>
          <p:cNvPr id="7" name="Oval 6">
            <a:extLst>
              <a:ext uri="{FF2B5EF4-FFF2-40B4-BE49-F238E27FC236}">
                <a16:creationId xmlns:a16="http://schemas.microsoft.com/office/drawing/2014/main" id="{80E468E0-1E2D-4439-A9A0-6DAD141DA9B9}"/>
              </a:ext>
              <a:ext uri="{C183D7F6-B498-43B3-948B-1728B52AA6E4}">
                <adec:decorative xmlns:adec="http://schemas.microsoft.com/office/drawing/2017/decorative" val="1"/>
              </a:ext>
            </a:extLst>
          </p:cNvPr>
          <p:cNvSpPr/>
          <p:nvPr/>
        </p:nvSpPr>
        <p:spPr>
          <a:xfrm>
            <a:off x="257908" y="212395"/>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3</a:t>
            </a:r>
          </a:p>
        </p:txBody>
      </p:sp>
      <p:sp>
        <p:nvSpPr>
          <p:cNvPr id="3" name="TextBox 2">
            <a:extLst>
              <a:ext uri="{FF2B5EF4-FFF2-40B4-BE49-F238E27FC236}">
                <a16:creationId xmlns:a16="http://schemas.microsoft.com/office/drawing/2014/main" id="{4F08F965-B293-47B3-B684-4631A57C9685}"/>
              </a:ext>
            </a:extLst>
          </p:cNvPr>
          <p:cNvSpPr txBox="1"/>
          <p:nvPr/>
        </p:nvSpPr>
        <p:spPr>
          <a:xfrm>
            <a:off x="257908" y="5225736"/>
            <a:ext cx="8260860" cy="1569660"/>
          </a:xfrm>
          <a:prstGeom prst="rect">
            <a:avLst/>
          </a:prstGeom>
          <a:noFill/>
        </p:spPr>
        <p:txBody>
          <a:bodyPr wrap="square" rtlCol="0">
            <a:spAutoFit/>
          </a:bodyPr>
          <a:lstStyle/>
          <a:p>
            <a:pPr marL="342900" indent="-342900">
              <a:buAutoNum type="arabicPeriod" startAt="3"/>
            </a:pPr>
            <a:r>
              <a:rPr lang="en-US" sz="1600" dirty="0">
                <a:latin typeface="Segoe UI" panose="020B0502040204020203" pitchFamily="34" charset="0"/>
                <a:cs typeface="Segoe UI" panose="020B0502040204020203" pitchFamily="34" charset="0"/>
              </a:rPr>
              <a:t>Select the text you would like to add to your research notes and then choose if you want to Add or Add and Cite.  To avoid plagiarism, make sure you add quotation marks around the text so you know it came from the source.  </a:t>
            </a:r>
          </a:p>
          <a:p>
            <a:pPr marL="342900" indent="-342900">
              <a:buAutoNum type="arabicPeriod" startAt="3"/>
            </a:pPr>
            <a:r>
              <a:rPr lang="en-US" sz="1600" dirty="0">
                <a:latin typeface="Segoe UI" panose="020B0502040204020203" pitchFamily="34" charset="0"/>
                <a:cs typeface="Segoe UI" panose="020B0502040204020203" pitchFamily="34" charset="0"/>
              </a:rPr>
              <a:t>The citation format will match the one you selected in the References tab.  This citation is APA style, but you can change it to the one given by your teacher or instructor</a:t>
            </a:r>
            <a:r>
              <a:rPr lang="en-US" sz="1600" i="1" dirty="0">
                <a:latin typeface="Segoe UI" panose="020B0502040204020203" pitchFamily="34" charset="0"/>
                <a:cs typeface="Segoe UI" panose="020B0502040204020203" pitchFamily="34" charset="0"/>
              </a:rPr>
              <a:t>.</a:t>
            </a:r>
          </a:p>
        </p:txBody>
      </p:sp>
      <p:pic>
        <p:nvPicPr>
          <p:cNvPr id="4" name="Picture 3" descr="A screenshot of a research paper.">
            <a:extLst>
              <a:ext uri="{FF2B5EF4-FFF2-40B4-BE49-F238E27FC236}">
                <a16:creationId xmlns:a16="http://schemas.microsoft.com/office/drawing/2014/main" id="{F795E70B-B268-407C-A7B8-F26AE17B7B59}"/>
              </a:ext>
            </a:extLst>
          </p:cNvPr>
          <p:cNvPicPr>
            <a:picLocks noChangeAspect="1"/>
          </p:cNvPicPr>
          <p:nvPr/>
        </p:nvPicPr>
        <p:blipFill>
          <a:blip r:embed="rId4"/>
          <a:stretch>
            <a:fillRect/>
          </a:stretch>
        </p:blipFill>
        <p:spPr>
          <a:xfrm>
            <a:off x="8834405" y="5225736"/>
            <a:ext cx="2494728" cy="1344247"/>
          </a:xfrm>
          <a:prstGeom prst="rect">
            <a:avLst/>
          </a:prstGeom>
          <a:ln>
            <a:noFill/>
          </a:ln>
          <a:effectLst>
            <a:outerShdw blurRad="292100" dist="139700" dir="2700000" algn="tl" rotWithShape="0">
              <a:srgbClr val="333333">
                <a:alpha val="65000"/>
              </a:srgbClr>
            </a:outerShdw>
          </a:effectLst>
        </p:spPr>
      </p:pic>
      <p:sp>
        <p:nvSpPr>
          <p:cNvPr id="8" name="Oval 7">
            <a:extLst>
              <a:ext uri="{FF2B5EF4-FFF2-40B4-BE49-F238E27FC236}">
                <a16:creationId xmlns:a16="http://schemas.microsoft.com/office/drawing/2014/main" id="{771FD909-67DD-41D1-8AC0-F79A8ED9E072}"/>
              </a:ext>
              <a:ext uri="{C183D7F6-B498-43B3-948B-1728B52AA6E4}">
                <adec:decorative xmlns:adec="http://schemas.microsoft.com/office/drawing/2017/decorative" val="1"/>
              </a:ext>
            </a:extLst>
          </p:cNvPr>
          <p:cNvSpPr/>
          <p:nvPr/>
        </p:nvSpPr>
        <p:spPr>
          <a:xfrm>
            <a:off x="8358554" y="5676429"/>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4</a:t>
            </a:r>
          </a:p>
        </p:txBody>
      </p:sp>
      <p:cxnSp>
        <p:nvCxnSpPr>
          <p:cNvPr id="6" name="Straight Arrow Connector 5">
            <a:extLst>
              <a:ext uri="{FF2B5EF4-FFF2-40B4-BE49-F238E27FC236}">
                <a16:creationId xmlns:a16="http://schemas.microsoft.com/office/drawing/2014/main" id="{F1940635-5372-434B-A46D-020D70584889}"/>
              </a:ext>
              <a:ext uri="{C183D7F6-B498-43B3-948B-1728B52AA6E4}">
                <adec:decorative xmlns:adec="http://schemas.microsoft.com/office/drawing/2017/decorative" val="1"/>
              </a:ext>
            </a:extLst>
          </p:cNvPr>
          <p:cNvCxnSpPr/>
          <p:nvPr/>
        </p:nvCxnSpPr>
        <p:spPr>
          <a:xfrm>
            <a:off x="8651631" y="5056554"/>
            <a:ext cx="1484923" cy="7424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758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257214" y="2694018"/>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Vary Your Sources</a:t>
            </a:r>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Content Placeholder 2">
            <a:extLst>
              <a:ext uri="{FF2B5EF4-FFF2-40B4-BE49-F238E27FC236}">
                <a16:creationId xmlns:a16="http://schemas.microsoft.com/office/drawing/2014/main" id="{81072FAC-EEE9-4F26-A784-BC07EACCBE9F}"/>
              </a:ext>
            </a:extLst>
          </p:cNvPr>
          <p:cNvSpPr>
            <a:spLocks noGrp="1"/>
          </p:cNvSpPr>
          <p:nvPr>
            <p:ph idx="1"/>
          </p:nvPr>
        </p:nvSpPr>
        <p:spPr>
          <a:xfrm>
            <a:off x="2257215" y="4352917"/>
            <a:ext cx="5406902" cy="1688746"/>
          </a:xfrm>
        </p:spPr>
        <p:txBody>
          <a:bodyPr vert="horz" lIns="91440" tIns="45720" rIns="91440" bIns="45720" rtlCol="0" anchor="t">
            <a:normAutofit/>
          </a:bodyPr>
          <a:lstStyle/>
          <a:p>
            <a:r>
              <a:rPr lang="en-US" sz="2000" dirty="0">
                <a:latin typeface="Segoe UI" panose="020B0502040204020203" pitchFamily="34" charset="0"/>
                <a:cs typeface="Segoe UI" panose="020B0502040204020203" pitchFamily="34" charset="0"/>
              </a:rPr>
              <a:t>Refer to the notes section below for guidelines on this topic.</a:t>
            </a:r>
          </a:p>
        </p:txBody>
      </p:sp>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81659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E5079-B185-4DE0-AF2C-AE4B7709FBC3}"/>
              </a:ext>
            </a:extLst>
          </p:cNvPr>
          <p:cNvSpPr>
            <a:spLocks noGrp="1"/>
          </p:cNvSpPr>
          <p:nvPr>
            <p:ph type="title"/>
          </p:nvPr>
        </p:nvSpPr>
        <p:spPr>
          <a:xfrm>
            <a:off x="2257214" y="2694018"/>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Evaluate Your Sources</a:t>
            </a:r>
          </a:p>
        </p:txBody>
      </p:sp>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Content Placeholder 2">
            <a:extLst>
              <a:ext uri="{FF2B5EF4-FFF2-40B4-BE49-F238E27FC236}">
                <a16:creationId xmlns:a16="http://schemas.microsoft.com/office/drawing/2014/main" id="{89B4E0E8-07C8-4A23-99E2-20D6DFD6FA7A}"/>
              </a:ext>
            </a:extLst>
          </p:cNvPr>
          <p:cNvSpPr>
            <a:spLocks noGrp="1"/>
          </p:cNvSpPr>
          <p:nvPr>
            <p:ph idx="1"/>
          </p:nvPr>
        </p:nvSpPr>
        <p:spPr>
          <a:xfrm>
            <a:off x="2257215" y="4352917"/>
            <a:ext cx="5406902" cy="1688746"/>
          </a:xfrm>
        </p:spPr>
        <p:txBody>
          <a:bodyPr vert="horz" lIns="91440" tIns="45720" rIns="91440" bIns="45720" rtlCol="0" anchor="t">
            <a:normAutofit/>
          </a:bodyPr>
          <a:lstStyle/>
          <a:p>
            <a:r>
              <a:rPr lang="en-US" sz="2000" dirty="0">
                <a:latin typeface="Segoe UI" panose="020B0502040204020203" pitchFamily="34" charset="0"/>
                <a:cs typeface="Segoe UI" panose="020B0502040204020203" pitchFamily="34" charset="0"/>
              </a:rPr>
              <a:t>Refer to the notes section below for guidelines on this topic.</a:t>
            </a:r>
          </a:p>
        </p:txBody>
      </p:sp>
      <p:pic>
        <p:nvPicPr>
          <p:cNvPr id="8" name="Content Placeholder 4">
            <a:extLst>
              <a:ext uri="{FF2B5EF4-FFF2-40B4-BE49-F238E27FC236}">
                <a16:creationId xmlns:a16="http://schemas.microsoft.com/office/drawing/2014/main" id="{17062073-5027-4AA3-AB16-4D2C8C505AF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882630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CEF4-01D3-4AF7-9E84-F43030ACA972}"/>
              </a:ext>
            </a:extLst>
          </p:cNvPr>
          <p:cNvSpPr>
            <a:spLocks noGrp="1"/>
          </p:cNvSpPr>
          <p:nvPr>
            <p:ph type="title"/>
          </p:nvPr>
        </p:nvSpPr>
        <p:spPr>
          <a:xfrm>
            <a:off x="2257214" y="2694018"/>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Narrow Your Topic</a:t>
            </a:r>
          </a:p>
        </p:txBody>
      </p:sp>
      <p:pic>
        <p:nvPicPr>
          <p:cNvPr id="4" name="Graphic 3" descr="Books on Shelf">
            <a:extLst>
              <a:ext uri="{FF2B5EF4-FFF2-40B4-BE49-F238E27FC236}">
                <a16:creationId xmlns:a16="http://schemas.microsoft.com/office/drawing/2014/main" id="{3DE94ADA-0031-43D4-A79A-B89B959930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Content Placeholder 2">
            <a:extLst>
              <a:ext uri="{FF2B5EF4-FFF2-40B4-BE49-F238E27FC236}">
                <a16:creationId xmlns:a16="http://schemas.microsoft.com/office/drawing/2014/main" id="{31EFD88C-EC41-4850-9D1D-676D6AEE0358}"/>
              </a:ext>
            </a:extLst>
          </p:cNvPr>
          <p:cNvSpPr>
            <a:spLocks noGrp="1"/>
          </p:cNvSpPr>
          <p:nvPr>
            <p:ph idx="1"/>
          </p:nvPr>
        </p:nvSpPr>
        <p:spPr>
          <a:xfrm>
            <a:off x="2257215" y="4352917"/>
            <a:ext cx="5406902" cy="1688746"/>
          </a:xfrm>
        </p:spPr>
        <p:txBody>
          <a:bodyPr vert="horz" lIns="91440" tIns="45720" rIns="91440" bIns="45720" rtlCol="0" anchor="t">
            <a:normAutofit/>
          </a:bodyPr>
          <a:lstStyle/>
          <a:p>
            <a:r>
              <a:rPr lang="en-US" sz="2000" dirty="0">
                <a:latin typeface="Segoe UI" panose="020B0502040204020203" pitchFamily="34" charset="0"/>
                <a:cs typeface="Segoe UI" panose="020B0502040204020203" pitchFamily="34" charset="0"/>
              </a:rPr>
              <a:t>Refer to the notes section below  for guidelines on this topic.</a:t>
            </a:r>
          </a:p>
        </p:txBody>
      </p:sp>
      <p:pic>
        <p:nvPicPr>
          <p:cNvPr id="8" name="Graphic 7">
            <a:extLst>
              <a:ext uri="{FF2B5EF4-FFF2-40B4-BE49-F238E27FC236}">
                <a16:creationId xmlns:a16="http://schemas.microsoft.com/office/drawing/2014/main" id="{984A409A-26BF-476C-858A-CFA0EBFAB6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97072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8CF1-C72A-4313-8FC7-BF6DD4642AFE}"/>
              </a:ext>
            </a:extLst>
          </p:cNvPr>
          <p:cNvSpPr>
            <a:spLocks noGrp="1"/>
          </p:cNvSpPr>
          <p:nvPr>
            <p:ph type="title"/>
          </p:nvPr>
        </p:nvSpPr>
        <p:spPr>
          <a:xfrm>
            <a:off x="2165533" y="2507675"/>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Organize Your Research</a:t>
            </a:r>
          </a:p>
        </p:txBody>
      </p:sp>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6" name="Content Placeholder 5">
            <a:extLst>
              <a:ext uri="{FF2B5EF4-FFF2-40B4-BE49-F238E27FC236}">
                <a16:creationId xmlns:a16="http://schemas.microsoft.com/office/drawing/2014/main" id="{C856D755-2374-40B4-B692-603C5E927388}"/>
              </a:ext>
            </a:extLst>
          </p:cNvPr>
          <p:cNvSpPr>
            <a:spLocks noGrp="1"/>
          </p:cNvSpPr>
          <p:nvPr>
            <p:ph idx="1"/>
          </p:nvPr>
        </p:nvSpPr>
        <p:spPr>
          <a:xfrm>
            <a:off x="2407138" y="3884245"/>
            <a:ext cx="4923693" cy="2292717"/>
          </a:xfrm>
        </p:spPr>
        <p:txBody>
          <a:bodyPr vert="horz" lIns="91440" tIns="45720" rIns="91440" bIns="45720" rtlCol="0" anchor="t">
            <a:normAutofit/>
          </a:bodyPr>
          <a:lstStyle/>
          <a:p>
            <a:r>
              <a:rPr lang="en-US" sz="1800" dirty="0">
                <a:latin typeface="Segoe UI" panose="020B0502040204020203" pitchFamily="34" charset="0"/>
                <a:cs typeface="Segoe UI" panose="020B0502040204020203" pitchFamily="34" charset="0"/>
              </a:rPr>
              <a:t>Refer to the notes section below  for guidelines on this topic.</a:t>
            </a:r>
          </a:p>
          <a:p>
            <a:endParaRPr lang="en-US" dirty="0">
              <a:latin typeface="Segoe UI" panose="020B0502040204020203" pitchFamily="34" charset="0"/>
              <a:cs typeface="Segoe UI" panose="020B0502040204020203" pitchFamily="34" charset="0"/>
            </a:endParaRPr>
          </a:p>
        </p:txBody>
      </p:sp>
      <p:pic>
        <p:nvPicPr>
          <p:cNvPr id="8" name="Graphic 7">
            <a:extLst>
              <a:ext uri="{FF2B5EF4-FFF2-40B4-BE49-F238E27FC236}">
                <a16:creationId xmlns:a16="http://schemas.microsoft.com/office/drawing/2014/main" id="{B6C7BDF7-D7AC-4209-A6A9-11B953F882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514892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F6D58-1A39-41ED-99F7-0CE9F03BD344}"/>
              </a:ext>
            </a:extLst>
          </p:cNvPr>
          <p:cNvSpPr>
            <a:spLocks noGrp="1"/>
          </p:cNvSpPr>
          <p:nvPr>
            <p:ph type="title"/>
          </p:nvPr>
        </p:nvSpPr>
        <p:spPr>
          <a:xfrm>
            <a:off x="2257214" y="2694018"/>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Present Your Research</a:t>
            </a:r>
          </a:p>
        </p:txBody>
      </p:sp>
      <p:pic>
        <p:nvPicPr>
          <p:cNvPr id="4" name="Graphic 3" descr="Chat">
            <a:extLst>
              <a:ext uri="{FF2B5EF4-FFF2-40B4-BE49-F238E27FC236}">
                <a16:creationId xmlns:a16="http://schemas.microsoft.com/office/drawing/2014/main" id="{AEE98CC8-0F49-4433-9FD0-35E20C04B5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Content Placeholder 2">
            <a:extLst>
              <a:ext uri="{FF2B5EF4-FFF2-40B4-BE49-F238E27FC236}">
                <a16:creationId xmlns:a16="http://schemas.microsoft.com/office/drawing/2014/main" id="{3BF933A4-33C5-4102-BBB0-9B15EFF2F292}"/>
              </a:ext>
            </a:extLst>
          </p:cNvPr>
          <p:cNvSpPr>
            <a:spLocks noGrp="1"/>
          </p:cNvSpPr>
          <p:nvPr>
            <p:ph idx="1"/>
          </p:nvPr>
        </p:nvSpPr>
        <p:spPr>
          <a:xfrm>
            <a:off x="2257215" y="4352917"/>
            <a:ext cx="5406902" cy="1688746"/>
          </a:xfrm>
        </p:spPr>
        <p:txBody>
          <a:bodyPr vert="horz" lIns="91440" tIns="45720" rIns="91440" bIns="45720" rtlCol="0" anchor="t">
            <a:normAutofit/>
          </a:bodyPr>
          <a:lstStyle/>
          <a:p>
            <a:r>
              <a:rPr lang="en-US" sz="2000" dirty="0">
                <a:latin typeface="Segoe UI" panose="020B0502040204020203" pitchFamily="34" charset="0"/>
                <a:cs typeface="Segoe UI" panose="020B0502040204020203" pitchFamily="34" charset="0"/>
              </a:rPr>
              <a:t>Refer to the notes section below  for guidelines on this topic.</a:t>
            </a:r>
          </a:p>
          <a:p>
            <a:endParaRPr lang="en-US" sz="2000" dirty="0">
              <a:latin typeface="Franklin Gothic Book" panose="020B0503020102020204" pitchFamily="34" charset="0"/>
            </a:endParaRPr>
          </a:p>
        </p:txBody>
      </p:sp>
      <p:pic>
        <p:nvPicPr>
          <p:cNvPr id="8" name="Graphic 7">
            <a:extLst>
              <a:ext uri="{FF2B5EF4-FFF2-40B4-BE49-F238E27FC236}">
                <a16:creationId xmlns:a16="http://schemas.microsoft.com/office/drawing/2014/main" id="{590430A8-7125-464C-98BA-3409573DB5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880909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0041" y="982364"/>
            <a:ext cx="2659472" cy="2659472"/>
          </a:xfrm>
          <a:prstGeom prst="rect">
            <a:avLst/>
          </a:prstGeom>
        </p:spPr>
      </p:pic>
      <p:cxnSp>
        <p:nvCxnSpPr>
          <p:cNvPr id="16" name="Straight Connector 15">
            <a:extLst>
              <a:ext uri="{FF2B5EF4-FFF2-40B4-BE49-F238E27FC236}">
                <a16:creationId xmlns:a16="http://schemas.microsoft.com/office/drawing/2014/main" id="{DFDA47BC-3069-47F5-8257-24B3B1F76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927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0143" y="983211"/>
            <a:ext cx="2646677" cy="2646677"/>
          </a:xfrm>
          <a:prstGeom prst="rect">
            <a:avLst/>
          </a:prstGeom>
        </p:spPr>
      </p:pic>
      <p:cxnSp>
        <p:nvCxnSpPr>
          <p:cNvPr id="20" name="Straight Connector 19">
            <a:extLst>
              <a:ext uri="{FF2B5EF4-FFF2-40B4-BE49-F238E27FC236}">
                <a16:creationId xmlns:a16="http://schemas.microsoft.com/office/drawing/2014/main" id="{942B920A-73AD-402A-8EEF-B88E1A9398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768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56859" y="982364"/>
            <a:ext cx="2648371" cy="2648371"/>
          </a:xfrm>
          <a:prstGeom prst="rect">
            <a:avLst/>
          </a:prstGeom>
        </p:spPr>
      </p:pic>
      <p:cxnSp>
        <p:nvCxnSpPr>
          <p:cNvPr id="22" name="Straight Connector 21">
            <a:extLst>
              <a:ext uri="{FF2B5EF4-FFF2-40B4-BE49-F238E27FC236}">
                <a16:creationId xmlns:a16="http://schemas.microsoft.com/office/drawing/2014/main" id="{00C9EB70-BC82-414A-BF8D-AD7FC67276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609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5269" y="1004677"/>
            <a:ext cx="2648372" cy="2648372"/>
          </a:xfrm>
          <a:prstGeom prst="rect">
            <a:avLst/>
          </a:prstGeom>
        </p:spPr>
      </p:pic>
      <p:sp>
        <p:nvSpPr>
          <p:cNvPr id="18" name="Rectangle 17">
            <a:extLst>
              <a:ext uri="{FF2B5EF4-FFF2-40B4-BE49-F238E27FC236}">
                <a16:creationId xmlns:a16="http://schemas.microsoft.com/office/drawing/2014/main" id="{7AE95D8F-9825-4222-8846-E3461598C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527538" y="4756638"/>
            <a:ext cx="11139854" cy="930447"/>
          </a:xfrm>
        </p:spPr>
        <p:txBody>
          <a:bodyPr>
            <a:normAutofit/>
          </a:bodyPr>
          <a:lstStyle/>
          <a:p>
            <a:r>
              <a:rPr lang="en-US" sz="5400" dirty="0">
                <a:solidFill>
                  <a:srgbClr val="FFFFFF"/>
                </a:solidFill>
                <a:latin typeface="Franklin Gothic Book" panose="020B0503020102020204" pitchFamily="34" charset="0"/>
                <a:cs typeface="Segoe UI" panose="020B0502040204020203" pitchFamily="34" charset="0"/>
              </a:rPr>
              <a:t>Research Presentation End</a:t>
            </a:r>
          </a:p>
        </p:txBody>
      </p:sp>
      <p:cxnSp>
        <p:nvCxnSpPr>
          <p:cNvPr id="24" name="Straight Connector 23">
            <a:extLst>
              <a:ext uri="{FF2B5EF4-FFF2-40B4-BE49-F238E27FC236}">
                <a16:creationId xmlns:a16="http://schemas.microsoft.com/office/drawing/2014/main" id="{3217665F-0036-444A-8D4A-33AF36A36A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1339362" y="5815698"/>
            <a:ext cx="9144000" cy="420001"/>
          </a:xfrm>
        </p:spPr>
        <p:txBody>
          <a:bodyPr>
            <a:normAutofit/>
          </a:bodyPr>
          <a:lstStyle/>
          <a:p>
            <a:endParaRPr lang="en-US" sz="2000" dirty="0">
              <a:solidFill>
                <a:srgbClr val="E7E6E6"/>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729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win32_fixed.potx" id="{FFA6945E-0D2E-49A3-B8AE-0157B47B7617}" vid="{3D53E5D5-FE42-40E3-89B4-70F55FAC32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Research presentation</Template>
  <TotalTime>0</TotalTime>
  <Words>1551</Words>
  <Application>Microsoft Office PowerPoint</Application>
  <PresentationFormat>Widescreen</PresentationFormat>
  <Paragraphs>93</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Franklin Gothic Book</vt:lpstr>
      <vt:lpstr>Segoe UI</vt:lpstr>
      <vt:lpstr>Office Theme</vt:lpstr>
      <vt:lpstr>Research Presentation</vt:lpstr>
      <vt:lpstr>Gather Your Research using Researcher</vt:lpstr>
      <vt:lpstr>Slide 3</vt:lpstr>
      <vt:lpstr>Vary Your Sources</vt:lpstr>
      <vt:lpstr>Evaluate Your Sources</vt:lpstr>
      <vt:lpstr>Narrow Your Topic</vt:lpstr>
      <vt:lpstr>Organize Your Research</vt:lpstr>
      <vt:lpstr>Present Your Research</vt:lpstr>
      <vt:lpstr>Research Presentation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j0352</dc:creator>
  <cp:lastModifiedBy>sandeep j0352</cp:lastModifiedBy>
  <cp:revision>1</cp:revision>
  <dcterms:created xsi:type="dcterms:W3CDTF">2026-03-01T13:44:40Z</dcterms:created>
  <dcterms:modified xsi:type="dcterms:W3CDTF">2026-03-01T13:44:55Z</dcterms:modified>
</cp:coreProperties>
</file>